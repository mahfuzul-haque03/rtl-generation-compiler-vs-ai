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87"/>
    <a:srgbClr val="B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3C5DB-FAC4-3BF6-25B7-2B9B938FB9E9}" v="8" dt="2026-05-22T20:43:49.581"/>
    <p1510:client id="{9788D80C-3611-403A-A9C2-45BD2B61AAB8}" v="4" dt="2026-05-22T20:29:30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Allo+Calyx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Increment</c:v>
                </c:pt>
                <c:pt idx="1">
                  <c:v>ReLU</c:v>
                </c:pt>
                <c:pt idx="2">
                  <c:v>GELU</c:v>
                </c:pt>
                <c:pt idx="3">
                  <c:v>GEMM</c:v>
                </c:pt>
                <c:pt idx="4">
                  <c:v>FFNN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50</c:v>
                </c:pt>
                <c:pt idx="2">
                  <c:v>50</c:v>
                </c:pt>
                <c:pt idx="3">
                  <c:v>250</c:v>
                </c:pt>
                <c:pt idx="4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3-42D9-B34D-157CA94BFA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 5.2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Increment</c:v>
                </c:pt>
                <c:pt idx="1">
                  <c:v>ReLU</c:v>
                </c:pt>
                <c:pt idx="2">
                  <c:v>GELU</c:v>
                </c:pt>
                <c:pt idx="3">
                  <c:v>GEMM</c:v>
                </c:pt>
                <c:pt idx="4">
                  <c:v>FFNN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250</c:v>
                </c:pt>
                <c:pt idx="2">
                  <c:v>500</c:v>
                </c:pt>
                <c:pt idx="3">
                  <c:v>3000</c:v>
                </c:pt>
                <c:pt idx="4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D3-42D9-B34D-157CA94BFA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Gemini 3 Pro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Increment</c:v>
                </c:pt>
                <c:pt idx="1">
                  <c:v>ReLU</c:v>
                </c:pt>
                <c:pt idx="2">
                  <c:v>GELU</c:v>
                </c:pt>
                <c:pt idx="3">
                  <c:v>GEMM</c:v>
                </c:pt>
                <c:pt idx="4">
                  <c:v>FFNN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250</c:v>
                </c:pt>
                <c:pt idx="2">
                  <c:v>500</c:v>
                </c:pt>
                <c:pt idx="3">
                  <c:v>1200</c:v>
                </c:pt>
                <c:pt idx="4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D3-42D9-B34D-157CA94BFA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Allo+Calyx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Increment</c:v>
                </c:pt>
                <c:pt idx="1">
                  <c:v>ReLU</c:v>
                </c:pt>
                <c:pt idx="2">
                  <c:v>GELU</c:v>
                </c:pt>
                <c:pt idx="3">
                  <c:v>GEMM</c:v>
                </c:pt>
                <c:pt idx="4">
                  <c:v>FFNN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</c:v>
                </c:pt>
                <c:pt idx="1">
                  <c:v>380</c:v>
                </c:pt>
                <c:pt idx="2">
                  <c:v>320</c:v>
                </c:pt>
                <c:pt idx="3">
                  <c:v>280</c:v>
                </c:pt>
                <c:pt idx="4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4F-4A64-A04B-D2ACB004AB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 5.2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Increment</c:v>
                </c:pt>
                <c:pt idx="1">
                  <c:v>ReLU</c:v>
                </c:pt>
                <c:pt idx="2">
                  <c:v>GELU</c:v>
                </c:pt>
                <c:pt idx="3">
                  <c:v>GEMM</c:v>
                </c:pt>
                <c:pt idx="4">
                  <c:v>FFNN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265</c:v>
                </c:pt>
                <c:pt idx="1">
                  <c:v>224</c:v>
                </c:pt>
                <c:pt idx="2">
                  <c:v>188</c:v>
                </c:pt>
                <c:pt idx="3">
                  <c:v>165</c:v>
                </c:pt>
                <c:pt idx="4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4F-4A64-A04B-D2ACB004AB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Gemini 3 Pro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Increment</c:v>
                </c:pt>
                <c:pt idx="1">
                  <c:v>ReLU</c:v>
                </c:pt>
                <c:pt idx="2">
                  <c:v>GELU</c:v>
                </c:pt>
                <c:pt idx="3">
                  <c:v>GEMM</c:v>
                </c:pt>
                <c:pt idx="4">
                  <c:v>FFNN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321</c:v>
                </c:pt>
                <c:pt idx="1">
                  <c:v>271</c:v>
                </c:pt>
                <c:pt idx="2">
                  <c:v>229</c:v>
                </c:pt>
                <c:pt idx="3">
                  <c:v>200</c:v>
                </c:pt>
                <c:pt idx="4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4F-4A64-A04B-D2ACB004AB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63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3D57D-683E-199D-9422-4961C058B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52482-B7BB-522F-A08F-977DD018A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A91FB-D78D-5A1D-F245-970CD842B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C8E0F-B54B-2A2E-4DCB-323CF079F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2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3" Type="http://schemas.openxmlformats.org/officeDocument/2006/relationships/chart" Target="../charts/chart1.xml"/><Relationship Id="rId7" Type="http://schemas.openxmlformats.org/officeDocument/2006/relationships/image" Target="../media/image4.png"/><Relationship Id="rId12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4DE16-982D-8BA9-3EFA-47793606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3">
            <a:extLst>
              <a:ext uri="{FF2B5EF4-FFF2-40B4-BE49-F238E27FC236}">
                <a16:creationId xmlns:a16="http://schemas.microsoft.com/office/drawing/2014/main" id="{CFA8E156-1EDA-2DEF-17AE-9F9838B9928D}"/>
              </a:ext>
            </a:extLst>
          </p:cNvPr>
          <p:cNvSpPr/>
          <p:nvPr/>
        </p:nvSpPr>
        <p:spPr>
          <a:xfrm>
            <a:off x="3991356" y="1268397"/>
            <a:ext cx="4160520" cy="4602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63955E1-AA35-ED73-05FE-3F407A76ACBD}"/>
              </a:ext>
            </a:extLst>
          </p:cNvPr>
          <p:cNvSpPr/>
          <p:nvPr/>
        </p:nvSpPr>
        <p:spPr>
          <a:xfrm>
            <a:off x="0" y="0"/>
            <a:ext cx="12192000" cy="108813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82472D-C982-F535-D04D-0493E061F8FD}"/>
              </a:ext>
            </a:extLst>
          </p:cNvPr>
          <p:cNvSpPr/>
          <p:nvPr/>
        </p:nvSpPr>
        <p:spPr>
          <a:xfrm>
            <a:off x="0" y="1095096"/>
            <a:ext cx="12192000" cy="914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E65A43-55B4-FFC1-35F0-BC138E0B0541}"/>
              </a:ext>
            </a:extLst>
          </p:cNvPr>
          <p:cNvSpPr/>
          <p:nvPr/>
        </p:nvSpPr>
        <p:spPr>
          <a:xfrm>
            <a:off x="167640" y="744474"/>
            <a:ext cx="10223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LOUISIANA TECH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6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07B48E0-588F-8098-28A6-2681BB40E786}"/>
              </a:ext>
            </a:extLst>
          </p:cNvPr>
          <p:cNvSpPr/>
          <p:nvPr/>
        </p:nvSpPr>
        <p:spPr>
          <a:xfrm>
            <a:off x="10957560" y="271583"/>
            <a:ext cx="1099457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2026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Forum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4A027A2-7048-AB90-6EDD-2622BF1A580F}"/>
              </a:ext>
            </a:extLst>
          </p:cNvPr>
          <p:cNvSpPr/>
          <p:nvPr/>
        </p:nvSpPr>
        <p:spPr>
          <a:xfrm>
            <a:off x="1691640" y="132498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Workload Acceleration through Semantic Preserving Hardware Generation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C68AC0-BE21-03AF-3572-28CAF5A8175A}"/>
              </a:ext>
            </a:extLst>
          </p:cNvPr>
          <p:cNvSpPr/>
          <p:nvPr/>
        </p:nvSpPr>
        <p:spPr>
          <a:xfrm>
            <a:off x="1587137" y="649224"/>
            <a:ext cx="8778240" cy="391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Mahfuzul Haque  •  Md Rubel Ahmed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Louisiana Tech University</a:t>
            </a:r>
            <a:endParaRPr lang="en-US" sz="10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BA6488F-4AD7-4C42-EAFF-CB90F38BC9F2}"/>
              </a:ext>
            </a:extLst>
          </p:cNvPr>
          <p:cNvSpPr/>
          <p:nvPr/>
        </p:nvSpPr>
        <p:spPr>
          <a:xfrm>
            <a:off x="256032" y="2813733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>
              <a:solidFill>
                <a:srgbClr val="003087"/>
              </a:solidFill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087FF192-B30D-CB37-ECBD-4F8BEDB50629}"/>
              </a:ext>
            </a:extLst>
          </p:cNvPr>
          <p:cNvSpPr/>
          <p:nvPr/>
        </p:nvSpPr>
        <p:spPr>
          <a:xfrm>
            <a:off x="4005072" y="1259252"/>
            <a:ext cx="103914" cy="4611197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2B2283C-BFE5-4443-15C2-9EF8ED882A08}"/>
              </a:ext>
            </a:extLst>
          </p:cNvPr>
          <p:cNvSpPr/>
          <p:nvPr/>
        </p:nvSpPr>
        <p:spPr>
          <a:xfrm>
            <a:off x="4142232" y="1304973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Two RTL Generation Flows</a:t>
            </a:r>
            <a:endParaRPr lang="en-US" sz="1250" dirty="0"/>
          </a:p>
        </p:txBody>
      </p:sp>
      <p:sp>
        <p:nvSpPr>
          <p:cNvPr id="73" name="Shape 69">
            <a:extLst>
              <a:ext uri="{FF2B5EF4-FFF2-40B4-BE49-F238E27FC236}">
                <a16:creationId xmlns:a16="http://schemas.microsoft.com/office/drawing/2014/main" id="{4BEAFFA3-EC26-2D4E-BAB8-E4DEFDDB5FE5}"/>
              </a:ext>
            </a:extLst>
          </p:cNvPr>
          <p:cNvSpPr/>
          <p:nvPr/>
        </p:nvSpPr>
        <p:spPr>
          <a:xfrm>
            <a:off x="8321040" y="1259253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0">
            <a:extLst>
              <a:ext uri="{FF2B5EF4-FFF2-40B4-BE49-F238E27FC236}">
                <a16:creationId xmlns:a16="http://schemas.microsoft.com/office/drawing/2014/main" id="{4148D40C-A29C-CE21-8777-AF5CB553630F}"/>
              </a:ext>
            </a:extLst>
          </p:cNvPr>
          <p:cNvSpPr/>
          <p:nvPr/>
        </p:nvSpPr>
        <p:spPr>
          <a:xfrm>
            <a:off x="8321040" y="1259253"/>
            <a:ext cx="73152" cy="20116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1">
            <a:extLst>
              <a:ext uri="{FF2B5EF4-FFF2-40B4-BE49-F238E27FC236}">
                <a16:creationId xmlns:a16="http://schemas.microsoft.com/office/drawing/2014/main" id="{88D58A65-AF99-29B2-C5A2-323FBD9924CC}"/>
              </a:ext>
            </a:extLst>
          </p:cNvPr>
          <p:cNvSpPr/>
          <p:nvPr/>
        </p:nvSpPr>
        <p:spPr>
          <a:xfrm>
            <a:off x="8458200" y="1304973"/>
            <a:ext cx="14752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Efficiency</a:t>
            </a:r>
            <a:endParaRPr lang="en-US" sz="1000" dirty="0"/>
          </a:p>
        </p:txBody>
      </p:sp>
      <p:graphicFrame>
        <p:nvGraphicFramePr>
          <p:cNvPr id="76" name="Chart 1">
            <a:extLst>
              <a:ext uri="{FF2B5EF4-FFF2-40B4-BE49-F238E27FC236}">
                <a16:creationId xmlns:a16="http://schemas.microsoft.com/office/drawing/2014/main" id="{9225C7D0-71D1-0699-0404-7BABC72708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759135"/>
              </p:ext>
            </p:extLst>
          </p:nvPr>
        </p:nvGraphicFramePr>
        <p:xfrm>
          <a:off x="8430768" y="1606725"/>
          <a:ext cx="1378156" cy="1586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7" name="Shape 72">
            <a:extLst>
              <a:ext uri="{FF2B5EF4-FFF2-40B4-BE49-F238E27FC236}">
                <a16:creationId xmlns:a16="http://schemas.microsoft.com/office/drawing/2014/main" id="{8A8D9BA4-A3B8-713D-9384-80A0E0D9EBDE}"/>
              </a:ext>
            </a:extLst>
          </p:cNvPr>
          <p:cNvSpPr/>
          <p:nvPr/>
        </p:nvSpPr>
        <p:spPr>
          <a:xfrm>
            <a:off x="8321040" y="3334941"/>
            <a:ext cx="372160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3">
            <a:extLst>
              <a:ext uri="{FF2B5EF4-FFF2-40B4-BE49-F238E27FC236}">
                <a16:creationId xmlns:a16="http://schemas.microsoft.com/office/drawing/2014/main" id="{0C4D41BA-D8B3-04B3-7B38-9CD0D232FB84}"/>
              </a:ext>
            </a:extLst>
          </p:cNvPr>
          <p:cNvSpPr/>
          <p:nvPr/>
        </p:nvSpPr>
        <p:spPr>
          <a:xfrm>
            <a:off x="8321040" y="3334941"/>
            <a:ext cx="73152" cy="16916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4">
            <a:extLst>
              <a:ext uri="{FF2B5EF4-FFF2-40B4-BE49-F238E27FC236}">
                <a16:creationId xmlns:a16="http://schemas.microsoft.com/office/drawing/2014/main" id="{C9474C1A-A426-5C94-B617-6543FE6F1BC2}"/>
              </a:ext>
            </a:extLst>
          </p:cNvPr>
          <p:cNvSpPr/>
          <p:nvPr/>
        </p:nvSpPr>
        <p:spPr>
          <a:xfrm>
            <a:off x="8458200" y="3380661"/>
            <a:ext cx="3538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80" name="Shape 75">
            <a:extLst>
              <a:ext uri="{FF2B5EF4-FFF2-40B4-BE49-F238E27FC236}">
                <a16:creationId xmlns:a16="http://schemas.microsoft.com/office/drawing/2014/main" id="{404856CA-0277-CE9C-58D9-CFAB1C34FBE0}"/>
              </a:ext>
            </a:extLst>
          </p:cNvPr>
          <p:cNvSpPr/>
          <p:nvPr/>
        </p:nvSpPr>
        <p:spPr>
          <a:xfrm>
            <a:off x="8485632" y="3682413"/>
            <a:ext cx="804672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80893D45-BA0F-FDF7-B39B-5C93E37DD5CC}"/>
              </a:ext>
            </a:extLst>
          </p:cNvPr>
          <p:cNvSpPr/>
          <p:nvPr/>
        </p:nvSpPr>
        <p:spPr>
          <a:xfrm>
            <a:off x="8485632" y="3700701"/>
            <a:ext cx="804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30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1.7×</a:t>
            </a:r>
            <a:endParaRPr lang="en-US" dirty="0"/>
          </a:p>
        </p:txBody>
      </p:sp>
      <p:sp>
        <p:nvSpPr>
          <p:cNvPr id="82" name="Text 77">
            <a:extLst>
              <a:ext uri="{FF2B5EF4-FFF2-40B4-BE49-F238E27FC236}">
                <a16:creationId xmlns:a16="http://schemas.microsoft.com/office/drawing/2014/main" id="{1EA6C22F-D9CE-D160-1812-B136CCDA04E3}"/>
              </a:ext>
            </a:extLst>
          </p:cNvPr>
          <p:cNvSpPr/>
          <p:nvPr/>
        </p:nvSpPr>
        <p:spPr>
          <a:xfrm>
            <a:off x="8485632" y="4112181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higher Fmax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vs ChatGPT</a:t>
            </a:r>
            <a:endParaRPr lang="en-US" sz="800" dirty="0"/>
          </a:p>
        </p:txBody>
      </p:sp>
      <p:sp>
        <p:nvSpPr>
          <p:cNvPr id="83" name="Shape 78">
            <a:extLst>
              <a:ext uri="{FF2B5EF4-FFF2-40B4-BE49-F238E27FC236}">
                <a16:creationId xmlns:a16="http://schemas.microsoft.com/office/drawing/2014/main" id="{3D4CBC21-8282-1BA0-6BED-52F8B81F4983}"/>
              </a:ext>
            </a:extLst>
          </p:cNvPr>
          <p:cNvSpPr/>
          <p:nvPr/>
        </p:nvSpPr>
        <p:spPr>
          <a:xfrm>
            <a:off x="9381744" y="3682413"/>
            <a:ext cx="804672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79">
            <a:extLst>
              <a:ext uri="{FF2B5EF4-FFF2-40B4-BE49-F238E27FC236}">
                <a16:creationId xmlns:a16="http://schemas.microsoft.com/office/drawing/2014/main" id="{0A3D1129-B864-67CC-E4E0-27DAF2163115}"/>
              </a:ext>
            </a:extLst>
          </p:cNvPr>
          <p:cNvSpPr/>
          <p:nvPr/>
        </p:nvSpPr>
        <p:spPr>
          <a:xfrm>
            <a:off x="9381744" y="3700701"/>
            <a:ext cx="804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30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dirty="0"/>
          </a:p>
        </p:txBody>
      </p:sp>
      <p:sp>
        <p:nvSpPr>
          <p:cNvPr id="85" name="Text 80">
            <a:extLst>
              <a:ext uri="{FF2B5EF4-FFF2-40B4-BE49-F238E27FC236}">
                <a16:creationId xmlns:a16="http://schemas.microsoft.com/office/drawing/2014/main" id="{CBC04C7E-91DA-6724-B055-D62042066278}"/>
              </a:ext>
            </a:extLst>
          </p:cNvPr>
          <p:cNvSpPr/>
          <p:nvPr/>
        </p:nvSpPr>
        <p:spPr>
          <a:xfrm>
            <a:off x="9381744" y="4112181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fewer LUTs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vs ChatGPT</a:t>
            </a:r>
            <a:endParaRPr lang="en-US" sz="800" dirty="0"/>
          </a:p>
        </p:txBody>
      </p:sp>
      <p:sp>
        <p:nvSpPr>
          <p:cNvPr id="86" name="Shape 81">
            <a:extLst>
              <a:ext uri="{FF2B5EF4-FFF2-40B4-BE49-F238E27FC236}">
                <a16:creationId xmlns:a16="http://schemas.microsoft.com/office/drawing/2014/main" id="{4E901852-6E95-E1D3-7586-BFFB93935A37}"/>
              </a:ext>
            </a:extLst>
          </p:cNvPr>
          <p:cNvSpPr/>
          <p:nvPr/>
        </p:nvSpPr>
        <p:spPr>
          <a:xfrm>
            <a:off x="10277856" y="3682413"/>
            <a:ext cx="804672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B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2">
            <a:extLst>
              <a:ext uri="{FF2B5EF4-FFF2-40B4-BE49-F238E27FC236}">
                <a16:creationId xmlns:a16="http://schemas.microsoft.com/office/drawing/2014/main" id="{7A17C0B2-7CD3-0E25-CAB3-852A3DE6DFB3}"/>
              </a:ext>
            </a:extLst>
          </p:cNvPr>
          <p:cNvSpPr/>
          <p:nvPr/>
        </p:nvSpPr>
        <p:spPr>
          <a:xfrm>
            <a:off x="10277856" y="3700701"/>
            <a:ext cx="804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1.4×</a:t>
            </a:r>
            <a:endParaRPr lang="en-US" dirty="0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34382B37-F90F-5B39-3AD3-A96025F153C7}"/>
              </a:ext>
            </a:extLst>
          </p:cNvPr>
          <p:cNvSpPr/>
          <p:nvPr/>
        </p:nvSpPr>
        <p:spPr>
          <a:xfrm>
            <a:off x="10277856" y="4112181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higher Fmax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vs Gemini</a:t>
            </a:r>
            <a:endParaRPr lang="en-US" sz="800" dirty="0"/>
          </a:p>
        </p:txBody>
      </p:sp>
      <p:sp>
        <p:nvSpPr>
          <p:cNvPr id="89" name="Shape 84">
            <a:extLst>
              <a:ext uri="{FF2B5EF4-FFF2-40B4-BE49-F238E27FC236}">
                <a16:creationId xmlns:a16="http://schemas.microsoft.com/office/drawing/2014/main" id="{791DC91A-D35D-A477-90BE-DA6769883847}"/>
              </a:ext>
            </a:extLst>
          </p:cNvPr>
          <p:cNvSpPr/>
          <p:nvPr/>
        </p:nvSpPr>
        <p:spPr>
          <a:xfrm>
            <a:off x="11173968" y="3682413"/>
            <a:ext cx="804672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B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5">
            <a:extLst>
              <a:ext uri="{FF2B5EF4-FFF2-40B4-BE49-F238E27FC236}">
                <a16:creationId xmlns:a16="http://schemas.microsoft.com/office/drawing/2014/main" id="{71960E0B-0CAA-9A49-FEA9-DCC43BAD6AD2}"/>
              </a:ext>
            </a:extLst>
          </p:cNvPr>
          <p:cNvSpPr/>
          <p:nvPr/>
        </p:nvSpPr>
        <p:spPr>
          <a:xfrm>
            <a:off x="11173968" y="3700701"/>
            <a:ext cx="804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dirty="0"/>
          </a:p>
        </p:txBody>
      </p:sp>
      <p:sp>
        <p:nvSpPr>
          <p:cNvPr id="91" name="Text 86">
            <a:extLst>
              <a:ext uri="{FF2B5EF4-FFF2-40B4-BE49-F238E27FC236}">
                <a16:creationId xmlns:a16="http://schemas.microsoft.com/office/drawing/2014/main" id="{B3AB952C-3919-9514-A730-795D7D9D2663}"/>
              </a:ext>
            </a:extLst>
          </p:cNvPr>
          <p:cNvSpPr/>
          <p:nvPr/>
        </p:nvSpPr>
        <p:spPr>
          <a:xfrm>
            <a:off x="11173968" y="4112181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fewer LUTs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vs Gemini</a:t>
            </a:r>
            <a:endParaRPr lang="en-US" sz="800" dirty="0"/>
          </a:p>
        </p:txBody>
      </p:sp>
      <p:sp>
        <p:nvSpPr>
          <p:cNvPr id="92" name="Text 87">
            <a:extLst>
              <a:ext uri="{FF2B5EF4-FFF2-40B4-BE49-F238E27FC236}">
                <a16:creationId xmlns:a16="http://schemas.microsoft.com/office/drawing/2014/main" id="{DE432E47-76C5-CC7A-3AE3-2179B0B09A00}"/>
              </a:ext>
            </a:extLst>
          </p:cNvPr>
          <p:cNvSpPr/>
          <p:nvPr/>
        </p:nvSpPr>
        <p:spPr>
          <a:xfrm>
            <a:off x="8458200" y="4551093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Compiler-driven flow consistently outperforms LLM-driven RTL generation </a:t>
            </a:r>
            <a:r>
              <a:rPr lang="en-US" sz="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benchmarks due to explicit scheduling, optimization passes, and semantic-preserving transformations.</a:t>
            </a:r>
            <a:endParaRPr lang="en-US" sz="800" dirty="0"/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A595AE32-03F1-86BD-C9D2-131A99BFF214}"/>
              </a:ext>
            </a:extLst>
          </p:cNvPr>
          <p:cNvGrpSpPr/>
          <p:nvPr/>
        </p:nvGrpSpPr>
        <p:grpSpPr>
          <a:xfrm>
            <a:off x="8321040" y="5099732"/>
            <a:ext cx="3721608" cy="1634823"/>
            <a:chOff x="8321040" y="5099733"/>
            <a:chExt cx="3721608" cy="1481328"/>
          </a:xfrm>
        </p:grpSpPr>
        <p:sp>
          <p:nvSpPr>
            <p:cNvPr id="93" name="Shape 88">
              <a:extLst>
                <a:ext uri="{FF2B5EF4-FFF2-40B4-BE49-F238E27FC236}">
                  <a16:creationId xmlns:a16="http://schemas.microsoft.com/office/drawing/2014/main" id="{BA2D8335-EE4D-727E-A85C-FD2BE22B0346}"/>
                </a:ext>
              </a:extLst>
            </p:cNvPr>
            <p:cNvSpPr/>
            <p:nvPr/>
          </p:nvSpPr>
          <p:spPr>
            <a:xfrm>
              <a:off x="8321040" y="5099733"/>
              <a:ext cx="3721608" cy="1481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Shape 89">
              <a:extLst>
                <a:ext uri="{FF2B5EF4-FFF2-40B4-BE49-F238E27FC236}">
                  <a16:creationId xmlns:a16="http://schemas.microsoft.com/office/drawing/2014/main" id="{6896A7E9-3C6B-C736-2AB6-A65A38A2744C}"/>
                </a:ext>
              </a:extLst>
            </p:cNvPr>
            <p:cNvSpPr/>
            <p:nvPr/>
          </p:nvSpPr>
          <p:spPr>
            <a:xfrm>
              <a:off x="8321040" y="5099733"/>
              <a:ext cx="73152" cy="1481328"/>
            </a:xfrm>
            <a:prstGeom prst="rect">
              <a:avLst/>
            </a:prstGeom>
            <a:solidFill>
              <a:srgbClr val="1A4A8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5" name="Text 90">
            <a:extLst>
              <a:ext uri="{FF2B5EF4-FFF2-40B4-BE49-F238E27FC236}">
                <a16:creationId xmlns:a16="http://schemas.microsoft.com/office/drawing/2014/main" id="{556345C5-AB9F-758B-0558-C44760C2144C}"/>
              </a:ext>
            </a:extLst>
          </p:cNvPr>
          <p:cNvSpPr/>
          <p:nvPr/>
        </p:nvSpPr>
        <p:spPr>
          <a:xfrm>
            <a:off x="8458200" y="5145453"/>
            <a:ext cx="3538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250" dirty="0"/>
          </a:p>
        </p:txBody>
      </p:sp>
      <p:sp>
        <p:nvSpPr>
          <p:cNvPr id="101" name="Text 96">
            <a:extLst>
              <a:ext uri="{FF2B5EF4-FFF2-40B4-BE49-F238E27FC236}">
                <a16:creationId xmlns:a16="http://schemas.microsoft.com/office/drawing/2014/main" id="{A740EF7D-C167-7329-A50A-80CA8CB967F4}"/>
              </a:ext>
            </a:extLst>
          </p:cNvPr>
          <p:cNvSpPr/>
          <p:nvPr/>
        </p:nvSpPr>
        <p:spPr>
          <a:xfrm>
            <a:off x="256032" y="6480477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pic>
        <p:nvPicPr>
          <p:cNvPr id="104" name="Picture 103" descr="Logo">
            <a:extLst>
              <a:ext uri="{FF2B5EF4-FFF2-40B4-BE49-F238E27FC236}">
                <a16:creationId xmlns:a16="http://schemas.microsoft.com/office/drawing/2014/main" id="{822C89A9-D34D-7B66-BCC8-DD85E3588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15989"/>
            <a:ext cx="848650" cy="495611"/>
          </a:xfrm>
          <a:prstGeom prst="rect">
            <a:avLst/>
          </a:prstGeom>
        </p:spPr>
      </p:pic>
      <p:grpSp>
        <p:nvGrpSpPr>
          <p:cNvPr id="250" name="Group 249">
            <a:extLst>
              <a:ext uri="{FF2B5EF4-FFF2-40B4-BE49-F238E27FC236}">
                <a16:creationId xmlns:a16="http://schemas.microsoft.com/office/drawing/2014/main" id="{E165C5C4-03EC-4289-1AE3-1ECA30740156}"/>
              </a:ext>
            </a:extLst>
          </p:cNvPr>
          <p:cNvGrpSpPr/>
          <p:nvPr/>
        </p:nvGrpSpPr>
        <p:grpSpPr>
          <a:xfrm>
            <a:off x="4169664" y="1707717"/>
            <a:ext cx="3852586" cy="4005562"/>
            <a:chOff x="789790" y="143953"/>
            <a:chExt cx="7635504" cy="6296698"/>
          </a:xfrm>
        </p:grpSpPr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72C40C9C-5750-0214-05D6-5BC987ECC1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685" y="939593"/>
              <a:ext cx="6716039" cy="0"/>
            </a:xfrm>
            <a:prstGeom prst="line">
              <a:avLst/>
            </a:prstGeom>
            <a:ln>
              <a:solidFill>
                <a:schemeClr val="tx1">
                  <a:alpha val="3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AFEDAB4C-A4B6-1C85-4963-3C856637B5F7}"/>
                </a:ext>
              </a:extLst>
            </p:cNvPr>
            <p:cNvGrpSpPr/>
            <p:nvPr/>
          </p:nvGrpSpPr>
          <p:grpSpPr>
            <a:xfrm>
              <a:off x="2046120" y="4468203"/>
              <a:ext cx="1307014" cy="1293557"/>
              <a:chOff x="2150284" y="3659670"/>
              <a:chExt cx="1308270" cy="1548546"/>
            </a:xfrm>
          </p:grpSpPr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A7FF4DB2-DDA2-F973-E292-43FCE630D7D9}"/>
                  </a:ext>
                </a:extLst>
              </p:cNvPr>
              <p:cNvGrpSpPr/>
              <p:nvPr/>
            </p:nvGrpSpPr>
            <p:grpSpPr>
              <a:xfrm>
                <a:off x="2150284" y="3659670"/>
                <a:ext cx="1308270" cy="1548546"/>
                <a:chOff x="2208627" y="1961446"/>
                <a:chExt cx="1603717" cy="1850355"/>
              </a:xfrm>
            </p:grpSpPr>
            <p:sp>
              <p:nvSpPr>
                <p:cNvPr id="335" name="Rectangle: Rounded Corners 334">
                  <a:extLst>
                    <a:ext uri="{FF2B5EF4-FFF2-40B4-BE49-F238E27FC236}">
                      <a16:creationId xmlns:a16="http://schemas.microsoft.com/office/drawing/2014/main" id="{57ED680F-EFF3-98F9-7C42-17CA3AF5E798}"/>
                    </a:ext>
                  </a:extLst>
                </p:cNvPr>
                <p:cNvSpPr/>
                <p:nvPr/>
              </p:nvSpPr>
              <p:spPr>
                <a:xfrm>
                  <a:off x="2208627" y="1961446"/>
                  <a:ext cx="1603717" cy="1791111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00"/>
                </a:p>
              </p:txBody>
            </p:sp>
            <p:sp>
              <p:nvSpPr>
                <p:cNvPr id="336" name="TextBox 335">
                  <a:extLst>
                    <a:ext uri="{FF2B5EF4-FFF2-40B4-BE49-F238E27FC236}">
                      <a16:creationId xmlns:a16="http://schemas.microsoft.com/office/drawing/2014/main" id="{F3B0C512-A665-34A2-A795-5F672C5D25E7}"/>
                    </a:ext>
                  </a:extLst>
                </p:cNvPr>
                <p:cNvSpPr txBox="1"/>
                <p:nvPr/>
              </p:nvSpPr>
              <p:spPr>
                <a:xfrm>
                  <a:off x="2648187" y="3195097"/>
                  <a:ext cx="1115041" cy="6167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" dirty="0"/>
                    <a:t>Calyx</a:t>
                  </a:r>
                </a:p>
              </p:txBody>
            </p:sp>
          </p:grpSp>
          <p:pic>
            <p:nvPicPr>
              <p:cNvPr id="334" name="Picture 6" descr="The Calyx Infrastructure · GitHub">
                <a:extLst>
                  <a:ext uri="{FF2B5EF4-FFF2-40B4-BE49-F238E27FC236}">
                    <a16:creationId xmlns:a16="http://schemas.microsoft.com/office/drawing/2014/main" id="{9D99184C-77DF-DB54-B55E-0AAE843A0D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16301" y="4710605"/>
                <a:ext cx="330667" cy="3306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2096B5B8-F3E2-F939-E87A-B01D33C9F6C1}"/>
                </a:ext>
              </a:extLst>
            </p:cNvPr>
            <p:cNvGrpSpPr/>
            <p:nvPr/>
          </p:nvGrpSpPr>
          <p:grpSpPr>
            <a:xfrm>
              <a:off x="1884201" y="153927"/>
              <a:ext cx="1630851" cy="602667"/>
              <a:chOff x="2208628" y="1009943"/>
              <a:chExt cx="1603717" cy="647114"/>
            </a:xfrm>
          </p:grpSpPr>
          <p:sp>
            <p:nvSpPr>
              <p:cNvPr id="330" name="Rectangle: Rounded Corners 329">
                <a:extLst>
                  <a:ext uri="{FF2B5EF4-FFF2-40B4-BE49-F238E27FC236}">
                    <a16:creationId xmlns:a16="http://schemas.microsoft.com/office/drawing/2014/main" id="{22E40166-D338-78BC-F78F-C078488DEEFF}"/>
                  </a:ext>
                </a:extLst>
              </p:cNvPr>
              <p:cNvSpPr/>
              <p:nvPr/>
            </p:nvSpPr>
            <p:spPr>
              <a:xfrm>
                <a:off x="2208628" y="1009943"/>
                <a:ext cx="1603717" cy="64711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pic>
            <p:nvPicPr>
              <p:cNvPr id="331" name="Picture 330" descr="A red and black logo&#10;&#10;AI-generated content may be incorrect.">
                <a:extLst>
                  <a:ext uri="{FF2B5EF4-FFF2-40B4-BE49-F238E27FC236}">
                    <a16:creationId xmlns:a16="http://schemas.microsoft.com/office/drawing/2014/main" id="{00EB51CA-1D54-F30C-C142-41FE3E946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63372" y="1133294"/>
                <a:ext cx="309489" cy="373500"/>
              </a:xfrm>
              <a:prstGeom prst="rect">
                <a:avLst/>
              </a:prstGeom>
            </p:spPr>
          </p:pic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D1A44556-AC73-7099-ADD6-7E658F17367A}"/>
                  </a:ext>
                </a:extLst>
              </p:cNvPr>
              <p:cNvSpPr txBox="1"/>
              <p:nvPr/>
            </p:nvSpPr>
            <p:spPr>
              <a:xfrm>
                <a:off x="2613612" y="1026638"/>
                <a:ext cx="1106659" cy="617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dirty="0"/>
                  <a:t>Reference Model/Algo.</a:t>
                </a:r>
              </a:p>
            </p:txBody>
          </p:sp>
        </p:grpSp>
        <p:sp>
          <p:nvSpPr>
            <p:cNvPr id="254" name="Rectangle: Rounded Corners 253">
              <a:extLst>
                <a:ext uri="{FF2B5EF4-FFF2-40B4-BE49-F238E27FC236}">
                  <a16:creationId xmlns:a16="http://schemas.microsoft.com/office/drawing/2014/main" id="{293887B7-988B-8844-32A7-5878E74EF261}"/>
                </a:ext>
              </a:extLst>
            </p:cNvPr>
            <p:cNvSpPr/>
            <p:nvPr/>
          </p:nvSpPr>
          <p:spPr>
            <a:xfrm>
              <a:off x="1632588" y="3836742"/>
              <a:ext cx="1145371" cy="40685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err="1">
                  <a:solidFill>
                    <a:sysClr val="windowText" lastClr="000000"/>
                  </a:solidFill>
                </a:rPr>
                <a:t>memref</a:t>
              </a:r>
              <a:endParaRPr lang="en-US" sz="6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A56F0F2D-974F-F2F9-71F5-4D0B9BD10A1E}"/>
                </a:ext>
              </a:extLst>
            </p:cNvPr>
            <p:cNvGrpSpPr/>
            <p:nvPr/>
          </p:nvGrpSpPr>
          <p:grpSpPr>
            <a:xfrm>
              <a:off x="2076551" y="2451652"/>
              <a:ext cx="1246152" cy="462390"/>
              <a:chOff x="2208627" y="3105443"/>
              <a:chExt cx="1603717" cy="726131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28" name="Rectangle: Rounded Corners 327">
                <a:extLst>
                  <a:ext uri="{FF2B5EF4-FFF2-40B4-BE49-F238E27FC236}">
                    <a16:creationId xmlns:a16="http://schemas.microsoft.com/office/drawing/2014/main" id="{30C77D33-4642-2850-7898-B9A43C87D786}"/>
                  </a:ext>
                </a:extLst>
              </p:cNvPr>
              <p:cNvSpPr/>
              <p:nvPr/>
            </p:nvSpPr>
            <p:spPr>
              <a:xfrm>
                <a:off x="2208627" y="3105443"/>
                <a:ext cx="1603717" cy="64711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4D6F9B36-83DE-3043-2D4F-2DA284C86930}"/>
                  </a:ext>
                </a:extLst>
              </p:cNvPr>
              <p:cNvSpPr txBox="1"/>
              <p:nvPr/>
            </p:nvSpPr>
            <p:spPr>
              <a:xfrm>
                <a:off x="2475608" y="3154535"/>
                <a:ext cx="1106661" cy="677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 err="1"/>
                  <a:t>Linalg</a:t>
                </a:r>
                <a:endParaRPr lang="en-US" sz="600" dirty="0"/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30BE141D-4FF5-049A-9CCF-06B7DDDEF6E0}"/>
                </a:ext>
              </a:extLst>
            </p:cNvPr>
            <p:cNvGrpSpPr/>
            <p:nvPr/>
          </p:nvGrpSpPr>
          <p:grpSpPr>
            <a:xfrm>
              <a:off x="2076550" y="3174772"/>
              <a:ext cx="1270203" cy="436401"/>
              <a:chOff x="2208627" y="3105443"/>
              <a:chExt cx="1634666" cy="767382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326" name="Rectangle: Rounded Corners 325">
                <a:extLst>
                  <a:ext uri="{FF2B5EF4-FFF2-40B4-BE49-F238E27FC236}">
                    <a16:creationId xmlns:a16="http://schemas.microsoft.com/office/drawing/2014/main" id="{81CAD9B5-7D57-6476-FF0A-52CCB43FD24A}"/>
                  </a:ext>
                </a:extLst>
              </p:cNvPr>
              <p:cNvSpPr/>
              <p:nvPr/>
            </p:nvSpPr>
            <p:spPr>
              <a:xfrm>
                <a:off x="2208627" y="3105443"/>
                <a:ext cx="1603717" cy="64711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7B209346-2E40-871F-6147-2577B7DFFE74}"/>
                  </a:ext>
                </a:extLst>
              </p:cNvPr>
              <p:cNvSpPr txBox="1"/>
              <p:nvPr/>
            </p:nvSpPr>
            <p:spPr>
              <a:xfrm>
                <a:off x="2506792" y="3114713"/>
                <a:ext cx="1336501" cy="758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Affine</a:t>
                </a:r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D1F234F6-4147-F303-62CA-56423C021EDA}"/>
                </a:ext>
              </a:extLst>
            </p:cNvPr>
            <p:cNvGrpSpPr/>
            <p:nvPr/>
          </p:nvGrpSpPr>
          <p:grpSpPr>
            <a:xfrm>
              <a:off x="3045501" y="3836564"/>
              <a:ext cx="852634" cy="474041"/>
              <a:chOff x="2208627" y="3105443"/>
              <a:chExt cx="1603717" cy="75398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324" name="Rectangle: Rounded Corners 323">
                <a:extLst>
                  <a:ext uri="{FF2B5EF4-FFF2-40B4-BE49-F238E27FC236}">
                    <a16:creationId xmlns:a16="http://schemas.microsoft.com/office/drawing/2014/main" id="{6090A94D-02DA-360C-1C18-276DA7FB6725}"/>
                  </a:ext>
                </a:extLst>
              </p:cNvPr>
              <p:cNvSpPr/>
              <p:nvPr/>
            </p:nvSpPr>
            <p:spPr>
              <a:xfrm>
                <a:off x="2208627" y="3105443"/>
                <a:ext cx="1603717" cy="64711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8613D799-C729-D9EA-A67C-AB459B25C006}"/>
                  </a:ext>
                </a:extLst>
              </p:cNvPr>
              <p:cNvSpPr txBox="1"/>
              <p:nvPr/>
            </p:nvSpPr>
            <p:spPr>
              <a:xfrm>
                <a:off x="2454590" y="3173698"/>
                <a:ext cx="1274424" cy="685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SCF</a:t>
                </a:r>
              </a:p>
            </p:txBody>
          </p:sp>
        </p:grpSp>
        <p:sp>
          <p:nvSpPr>
            <p:cNvPr id="258" name="Rectangle: Rounded Corners 257">
              <a:extLst>
                <a:ext uri="{FF2B5EF4-FFF2-40B4-BE49-F238E27FC236}">
                  <a16:creationId xmlns:a16="http://schemas.microsoft.com/office/drawing/2014/main" id="{19A8DF7C-A588-9D36-BD02-9C80234596C7}"/>
                </a:ext>
              </a:extLst>
            </p:cNvPr>
            <p:cNvSpPr/>
            <p:nvPr/>
          </p:nvSpPr>
          <p:spPr>
            <a:xfrm>
              <a:off x="5660137" y="2133757"/>
              <a:ext cx="1889587" cy="1152258"/>
            </a:xfrm>
            <a:prstGeom prst="roundRect">
              <a:avLst/>
            </a:prstGeom>
            <a:solidFill>
              <a:srgbClr val="99C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/</a:t>
              </a:r>
            </a:p>
          </p:txBody>
        </p:sp>
        <p:pic>
          <p:nvPicPr>
            <p:cNvPr id="259" name="Picture 25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7DADFEE-4857-CDFC-DAE9-338A45F2D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7395" y="2563272"/>
              <a:ext cx="400544" cy="406408"/>
            </a:xfrm>
            <a:prstGeom prst="rect">
              <a:avLst/>
            </a:prstGeom>
          </p:spPr>
        </p:pic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F9554872-6316-C371-CBE5-F0683107B52D}"/>
                </a:ext>
              </a:extLst>
            </p:cNvPr>
            <p:cNvGrpSpPr/>
            <p:nvPr/>
          </p:nvGrpSpPr>
          <p:grpSpPr>
            <a:xfrm>
              <a:off x="5078731" y="1069190"/>
              <a:ext cx="915855" cy="534600"/>
              <a:chOff x="2208627" y="3105443"/>
              <a:chExt cx="1722630" cy="647114"/>
            </a:xfrm>
          </p:grpSpPr>
          <p:sp>
            <p:nvSpPr>
              <p:cNvPr id="322" name="Rectangle: Rounded Corners 321">
                <a:extLst>
                  <a:ext uri="{FF2B5EF4-FFF2-40B4-BE49-F238E27FC236}">
                    <a16:creationId xmlns:a16="http://schemas.microsoft.com/office/drawing/2014/main" id="{D6719813-3C66-288F-896F-BEEF831B5F16}"/>
                  </a:ext>
                </a:extLst>
              </p:cNvPr>
              <p:cNvSpPr/>
              <p:nvPr/>
            </p:nvSpPr>
            <p:spPr>
              <a:xfrm>
                <a:off x="2208627" y="3105443"/>
                <a:ext cx="1603718" cy="64711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9012E7F0-A1F3-8344-5349-4C3A0A4FE68E}"/>
                  </a:ext>
                </a:extLst>
              </p:cNvPr>
              <p:cNvSpPr txBox="1"/>
              <p:nvPr/>
            </p:nvSpPr>
            <p:spPr>
              <a:xfrm>
                <a:off x="2208627" y="3205466"/>
                <a:ext cx="1722630" cy="521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Prompt</a:t>
                </a:r>
              </a:p>
            </p:txBody>
          </p:sp>
        </p:grpSp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170A3CDD-D769-BA0A-1B57-50F1BD90216C}"/>
                </a:ext>
              </a:extLst>
            </p:cNvPr>
            <p:cNvCxnSpPr>
              <a:cxnSpLocks/>
            </p:cNvCxnSpPr>
            <p:nvPr/>
          </p:nvCxnSpPr>
          <p:spPr>
            <a:xfrm>
              <a:off x="6604930" y="795980"/>
              <a:ext cx="0" cy="12501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261">
              <a:extLst>
                <a:ext uri="{FF2B5EF4-FFF2-40B4-BE49-F238E27FC236}">
                  <a16:creationId xmlns:a16="http://schemas.microsoft.com/office/drawing/2014/main" id="{2D26F9E4-0DA1-CDED-66C2-8C003A2CD5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8385" y="3568266"/>
              <a:ext cx="140542" cy="2186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843678B0-8BD9-07B5-A745-4D8AD63093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925" y="4266663"/>
              <a:ext cx="140542" cy="2186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0A08DE6D-106A-D3D4-BBA5-7C0A9E50EAB7}"/>
                </a:ext>
              </a:extLst>
            </p:cNvPr>
            <p:cNvCxnSpPr>
              <a:cxnSpLocks/>
            </p:cNvCxnSpPr>
            <p:nvPr/>
          </p:nvCxnSpPr>
          <p:spPr>
            <a:xfrm>
              <a:off x="3171740" y="3568266"/>
              <a:ext cx="140542" cy="2186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Arrow Connector 264">
              <a:extLst>
                <a:ext uri="{FF2B5EF4-FFF2-40B4-BE49-F238E27FC236}">
                  <a16:creationId xmlns:a16="http://schemas.microsoft.com/office/drawing/2014/main" id="{96F711D7-0650-0A7E-C402-DEA97B8EFCA8}"/>
                </a:ext>
              </a:extLst>
            </p:cNvPr>
            <p:cNvCxnSpPr>
              <a:cxnSpLocks/>
            </p:cNvCxnSpPr>
            <p:nvPr/>
          </p:nvCxnSpPr>
          <p:spPr>
            <a:xfrm>
              <a:off x="2058384" y="4274254"/>
              <a:ext cx="140542" cy="2186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87701DBA-B611-01FC-4A7E-980F0760E9E8}"/>
                </a:ext>
              </a:extLst>
            </p:cNvPr>
            <p:cNvCxnSpPr>
              <a:cxnSpLocks/>
            </p:cNvCxnSpPr>
            <p:nvPr/>
          </p:nvCxnSpPr>
          <p:spPr>
            <a:xfrm>
              <a:off x="4754819" y="939593"/>
              <a:ext cx="0" cy="421789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50974A62-4D1A-0C16-1E39-885B153D6575}"/>
                </a:ext>
              </a:extLst>
            </p:cNvPr>
            <p:cNvGrpSpPr/>
            <p:nvPr/>
          </p:nvGrpSpPr>
          <p:grpSpPr>
            <a:xfrm>
              <a:off x="2112072" y="4566691"/>
              <a:ext cx="1134948" cy="443208"/>
              <a:chOff x="2254341" y="3180839"/>
              <a:chExt cx="1460605" cy="69601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20" name="Rectangle: Rounded Corners 319">
                <a:extLst>
                  <a:ext uri="{FF2B5EF4-FFF2-40B4-BE49-F238E27FC236}">
                    <a16:creationId xmlns:a16="http://schemas.microsoft.com/office/drawing/2014/main" id="{526C3250-DF5D-322D-FDFA-C10EC4F28AAA}"/>
                  </a:ext>
                </a:extLst>
              </p:cNvPr>
              <p:cNvSpPr/>
              <p:nvPr/>
            </p:nvSpPr>
            <p:spPr>
              <a:xfrm>
                <a:off x="2254341" y="3180839"/>
                <a:ext cx="1460605" cy="64711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954C72F5-8777-FDF8-81DB-4B04929A9545}"/>
                  </a:ext>
                </a:extLst>
              </p:cNvPr>
              <p:cNvSpPr txBox="1"/>
              <p:nvPr/>
            </p:nvSpPr>
            <p:spPr>
              <a:xfrm>
                <a:off x="2359757" y="3199808"/>
                <a:ext cx="1355186" cy="677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Calyx IR</a:t>
                </a:r>
              </a:p>
            </p:txBody>
          </p:sp>
        </p:grp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F4017520-7F66-DFD6-ABAE-F2A589788220}"/>
                </a:ext>
              </a:extLst>
            </p:cNvPr>
            <p:cNvSpPr txBox="1"/>
            <p:nvPr/>
          </p:nvSpPr>
          <p:spPr>
            <a:xfrm>
              <a:off x="3851498" y="149650"/>
              <a:ext cx="1672157" cy="574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dirty="0"/>
                <a:t>Very high-level Abstraction</a:t>
              </a:r>
              <a:endParaRPr lang="en-US" sz="600" b="1" dirty="0"/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AE0F8B9F-0214-0A59-755B-FA4A43E290AB}"/>
                </a:ext>
              </a:extLst>
            </p:cNvPr>
            <p:cNvSpPr txBox="1"/>
            <p:nvPr/>
          </p:nvSpPr>
          <p:spPr>
            <a:xfrm>
              <a:off x="4996182" y="5157490"/>
              <a:ext cx="925012" cy="431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.</a:t>
              </a:r>
              <a:r>
                <a:rPr lang="en-US" sz="600" b="1" dirty="0" err="1"/>
                <a:t>sv</a:t>
              </a:r>
              <a:endParaRPr lang="en-US" sz="600" b="1" dirty="0"/>
            </a:p>
          </p:txBody>
        </p:sp>
        <p:cxnSp>
          <p:nvCxnSpPr>
            <p:cNvPr id="270" name="Straight Arrow Connector 269">
              <a:extLst>
                <a:ext uri="{FF2B5EF4-FFF2-40B4-BE49-F238E27FC236}">
                  <a16:creationId xmlns:a16="http://schemas.microsoft.com/office/drawing/2014/main" id="{DA2D780E-90C8-2433-A059-99DE8F971B0B}"/>
                </a:ext>
              </a:extLst>
            </p:cNvPr>
            <p:cNvCxnSpPr>
              <a:cxnSpLocks/>
            </p:cNvCxnSpPr>
            <p:nvPr/>
          </p:nvCxnSpPr>
          <p:spPr>
            <a:xfrm>
              <a:off x="4754819" y="5285965"/>
              <a:ext cx="0" cy="243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A25AB2FB-D09B-49A9-AB03-0E802168E2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3134" y="5222557"/>
              <a:ext cx="3202322" cy="92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B23FAC0D-1A7B-EC76-0F6F-0FB36E43683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680" y="1648002"/>
              <a:ext cx="5027" cy="38505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861DDF55-47F7-A269-3151-A5F253ED8D56}"/>
                </a:ext>
              </a:extLst>
            </p:cNvPr>
            <p:cNvSpPr txBox="1"/>
            <p:nvPr/>
          </p:nvSpPr>
          <p:spPr>
            <a:xfrm>
              <a:off x="6199368" y="2153899"/>
              <a:ext cx="736367" cy="431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LLMs</a:t>
              </a:r>
            </a:p>
          </p:txBody>
        </p:sp>
        <p:sp>
          <p:nvSpPr>
            <p:cNvPr id="274" name="Rectangle: Rounded Corners 273">
              <a:extLst>
                <a:ext uri="{FF2B5EF4-FFF2-40B4-BE49-F238E27FC236}">
                  <a16:creationId xmlns:a16="http://schemas.microsoft.com/office/drawing/2014/main" id="{ABB51CA8-FE78-12D3-8E64-9561F00AE370}"/>
                </a:ext>
              </a:extLst>
            </p:cNvPr>
            <p:cNvSpPr/>
            <p:nvPr/>
          </p:nvSpPr>
          <p:spPr>
            <a:xfrm>
              <a:off x="5495929" y="3575174"/>
              <a:ext cx="2119388" cy="40911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FF90EF42-59F5-A746-CC7F-419E862F7D58}"/>
                </a:ext>
              </a:extLst>
            </p:cNvPr>
            <p:cNvSpPr txBox="1"/>
            <p:nvPr/>
          </p:nvSpPr>
          <p:spPr>
            <a:xfrm>
              <a:off x="5505047" y="3591592"/>
              <a:ext cx="2217999" cy="431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Modular verification</a:t>
              </a:r>
            </a:p>
          </p:txBody>
        </p: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B171B3FE-3363-2EA3-7FB4-C9296D955631}"/>
                </a:ext>
              </a:extLst>
            </p:cNvPr>
            <p:cNvCxnSpPr>
              <a:cxnSpLocks/>
            </p:cNvCxnSpPr>
            <p:nvPr/>
          </p:nvCxnSpPr>
          <p:spPr>
            <a:xfrm>
              <a:off x="6604930" y="3316617"/>
              <a:ext cx="0" cy="2177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Rectangle: Rounded Corners 276">
              <a:extLst>
                <a:ext uri="{FF2B5EF4-FFF2-40B4-BE49-F238E27FC236}">
                  <a16:creationId xmlns:a16="http://schemas.microsoft.com/office/drawing/2014/main" id="{082949D8-467B-C229-F75F-E309F7373792}"/>
                </a:ext>
              </a:extLst>
            </p:cNvPr>
            <p:cNvSpPr/>
            <p:nvPr/>
          </p:nvSpPr>
          <p:spPr>
            <a:xfrm>
              <a:off x="5492163" y="4276019"/>
              <a:ext cx="2126586" cy="409118"/>
            </a:xfrm>
            <a:prstGeom prst="roundRect">
              <a:avLst/>
            </a:prstGeom>
            <a:solidFill>
              <a:srgbClr val="00808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9CE8BBAA-6FD7-0957-F1F3-D7CD570097DA}"/>
                </a:ext>
              </a:extLst>
            </p:cNvPr>
            <p:cNvSpPr txBox="1"/>
            <p:nvPr/>
          </p:nvSpPr>
          <p:spPr>
            <a:xfrm>
              <a:off x="5610531" y="4284738"/>
              <a:ext cx="2013568" cy="431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/>
                <a:t>Syntax Check</a:t>
              </a:r>
            </a:p>
          </p:txBody>
        </p: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9C08CDB0-6361-E461-5FBB-FB2FD333FBF6}"/>
                </a:ext>
              </a:extLst>
            </p:cNvPr>
            <p:cNvCxnSpPr>
              <a:cxnSpLocks/>
            </p:cNvCxnSpPr>
            <p:nvPr/>
          </p:nvCxnSpPr>
          <p:spPr>
            <a:xfrm>
              <a:off x="6604930" y="4013080"/>
              <a:ext cx="0" cy="2177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0" name="Picture 279">
              <a:extLst>
                <a:ext uri="{FF2B5EF4-FFF2-40B4-BE49-F238E27FC236}">
                  <a16:creationId xmlns:a16="http://schemas.microsoft.com/office/drawing/2014/main" id="{285366C7-688D-5733-66C5-9F79D9606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5738" y="2559062"/>
              <a:ext cx="428447" cy="428859"/>
            </a:xfrm>
            <a:prstGeom prst="rect">
              <a:avLst/>
            </a:prstGeom>
          </p:spPr>
        </p:pic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B373A610-B345-99BF-1A36-A61980EBC70C}"/>
                </a:ext>
              </a:extLst>
            </p:cNvPr>
            <p:cNvSpPr txBox="1"/>
            <p:nvPr/>
          </p:nvSpPr>
          <p:spPr>
            <a:xfrm>
              <a:off x="5831441" y="2952496"/>
              <a:ext cx="579907" cy="359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" dirty="0"/>
                <a:t>GPT</a:t>
              </a:r>
              <a:endParaRPr lang="en-US" sz="300" dirty="0"/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679BDFB8-65C2-2308-D07C-7081D2214532}"/>
                </a:ext>
              </a:extLst>
            </p:cNvPr>
            <p:cNvSpPr txBox="1"/>
            <p:nvPr/>
          </p:nvSpPr>
          <p:spPr>
            <a:xfrm>
              <a:off x="6814386" y="2934944"/>
              <a:ext cx="702823" cy="574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/>
                <a:t>Gemini</a:t>
              </a:r>
              <a:endParaRPr lang="en-US" sz="400" dirty="0"/>
            </a:p>
          </p:txBody>
        </p: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DD7E1026-826E-97D4-2D61-E5C681136D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846" y="1648002"/>
              <a:ext cx="0" cy="283257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058C1D71-7247-7683-7E94-91DC18AB35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4846" y="4471187"/>
              <a:ext cx="21196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F104D6D9-FB82-AEAB-BBD8-5827BDD1D2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4846" y="3772757"/>
              <a:ext cx="21196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2DEAA864-7549-23C9-1346-04E957888D62}"/>
                </a:ext>
              </a:extLst>
            </p:cNvPr>
            <p:cNvSpPr txBox="1"/>
            <p:nvPr/>
          </p:nvSpPr>
          <p:spPr>
            <a:xfrm>
              <a:off x="4798637" y="2518248"/>
              <a:ext cx="598939" cy="431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Fail</a:t>
              </a:r>
            </a:p>
          </p:txBody>
        </p: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74535093-2F97-E3EE-02FC-E3629CB547AF}"/>
                </a:ext>
              </a:extLst>
            </p:cNvPr>
            <p:cNvCxnSpPr>
              <a:cxnSpLocks/>
              <a:stCxn id="277" idx="2"/>
            </p:cNvCxnSpPr>
            <p:nvPr/>
          </p:nvCxnSpPr>
          <p:spPr>
            <a:xfrm>
              <a:off x="6555456" y="4685137"/>
              <a:ext cx="5501" cy="5374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1178B568-2E4A-94E7-5831-4ED50A37B890}"/>
                </a:ext>
              </a:extLst>
            </p:cNvPr>
            <p:cNvGrpSpPr/>
            <p:nvPr/>
          </p:nvGrpSpPr>
          <p:grpSpPr>
            <a:xfrm>
              <a:off x="3531800" y="5563592"/>
              <a:ext cx="4893494" cy="877059"/>
              <a:chOff x="5938220" y="5353607"/>
              <a:chExt cx="4893494" cy="877059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FC7E7D3C-F70F-D2B9-2A3A-4B52782C46D7}"/>
                  </a:ext>
                </a:extLst>
              </p:cNvPr>
              <p:cNvSpPr/>
              <p:nvPr/>
            </p:nvSpPr>
            <p:spPr>
              <a:xfrm>
                <a:off x="6022413" y="5397343"/>
                <a:ext cx="2384691" cy="72532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AB7B17FA-2DF0-5463-9B2C-22A47E279710}"/>
                  </a:ext>
                </a:extLst>
              </p:cNvPr>
              <p:cNvSpPr txBox="1"/>
              <p:nvPr/>
            </p:nvSpPr>
            <p:spPr>
              <a:xfrm>
                <a:off x="5938220" y="5440264"/>
                <a:ext cx="1955012" cy="790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Simulation on </a:t>
                </a:r>
                <a:r>
                  <a:rPr lang="en-US" sz="800" dirty="0" err="1"/>
                  <a:t>Vivado</a:t>
                </a:r>
                <a:endParaRPr lang="en-US" sz="800" dirty="0"/>
              </a:p>
            </p:txBody>
          </p:sp>
          <p:pic>
            <p:nvPicPr>
              <p:cNvPr id="316" name="Picture 4">
                <a:extLst>
                  <a:ext uri="{FF2B5EF4-FFF2-40B4-BE49-F238E27FC236}">
                    <a16:creationId xmlns:a16="http://schemas.microsoft.com/office/drawing/2014/main" id="{4D9093E1-0E43-A443-05C2-E98CA5A8DC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23047" y="5407640"/>
                <a:ext cx="609600" cy="609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7" name="Rectangle: Rounded Corners 316">
                <a:extLst>
                  <a:ext uri="{FF2B5EF4-FFF2-40B4-BE49-F238E27FC236}">
                    <a16:creationId xmlns:a16="http://schemas.microsoft.com/office/drawing/2014/main" id="{C717580F-D91D-8D71-F33D-FB51ABFA5A66}"/>
                  </a:ext>
                </a:extLst>
              </p:cNvPr>
              <p:cNvSpPr/>
              <p:nvPr/>
            </p:nvSpPr>
            <p:spPr>
              <a:xfrm>
                <a:off x="8817770" y="5387406"/>
                <a:ext cx="1936322" cy="735264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 err="1">
                    <a:solidFill>
                      <a:schemeClr val="tx1"/>
                    </a:solidFill>
                  </a:rPr>
                  <a:t>QoR</a:t>
                </a:r>
                <a:r>
                  <a:rPr lang="en-US" sz="400" dirty="0">
                    <a:solidFill>
                      <a:schemeClr val="tx1"/>
                    </a:solidFill>
                  </a:rPr>
                  <a:t> </a:t>
                </a:r>
                <a:r>
                  <a:rPr lang="en-US" sz="800" dirty="0">
                    <a:solidFill>
                      <a:schemeClr val="tx1"/>
                    </a:solidFill>
                  </a:rPr>
                  <a:t>Analysis</a:t>
                </a:r>
                <a:r>
                  <a:rPr lang="en-US" sz="400" dirty="0">
                    <a:solidFill>
                      <a:schemeClr val="tx1"/>
                    </a:solidFill>
                  </a:rPr>
                  <a:t>         </a:t>
                </a:r>
              </a:p>
            </p:txBody>
          </p:sp>
          <p:pic>
            <p:nvPicPr>
              <p:cNvPr id="318" name="Graphic 317" descr="Bar chart outline">
                <a:extLst>
                  <a:ext uri="{FF2B5EF4-FFF2-40B4-BE49-F238E27FC236}">
                    <a16:creationId xmlns:a16="http://schemas.microsoft.com/office/drawing/2014/main" id="{C693B159-4574-29AF-CEA8-E1FA4390C7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978947" y="5353607"/>
                <a:ext cx="852767" cy="852767"/>
              </a:xfrm>
              <a:prstGeom prst="rect">
                <a:avLst/>
              </a:prstGeom>
            </p:spPr>
          </p:pic>
          <p:cxnSp>
            <p:nvCxnSpPr>
              <p:cNvPr id="319" name="Straight Arrow Connector 318">
                <a:extLst>
                  <a:ext uri="{FF2B5EF4-FFF2-40B4-BE49-F238E27FC236}">
                    <a16:creationId xmlns:a16="http://schemas.microsoft.com/office/drawing/2014/main" id="{62100F92-E941-60B5-BB93-8CF3D37700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71155" y="5782535"/>
                <a:ext cx="30320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E8BD2CEE-C8E0-6035-E48F-6C14781BD1F6}"/>
                </a:ext>
              </a:extLst>
            </p:cNvPr>
            <p:cNvSpPr txBox="1"/>
            <p:nvPr/>
          </p:nvSpPr>
          <p:spPr>
            <a:xfrm>
              <a:off x="853507" y="2327760"/>
              <a:ext cx="971405" cy="5748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00" dirty="0"/>
                <a:t>High-level MLIR</a:t>
              </a:r>
            </a:p>
          </p:txBody>
        </p: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7A075850-3F65-1F2A-B654-D4FDE314DA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683" y="2955933"/>
              <a:ext cx="3788555" cy="0"/>
            </a:xfrm>
            <a:prstGeom prst="line">
              <a:avLst/>
            </a:prstGeom>
            <a:ln>
              <a:solidFill>
                <a:schemeClr val="tx1">
                  <a:alpha val="3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69CDB854-B55E-9D52-1B0F-ABF7C9E1B3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683" y="3688522"/>
              <a:ext cx="3819913" cy="19811"/>
            </a:xfrm>
            <a:prstGeom prst="line">
              <a:avLst/>
            </a:prstGeom>
            <a:ln>
              <a:solidFill>
                <a:schemeClr val="tx1">
                  <a:alpha val="3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D7A59606-5B54-EA03-2D16-B2D9DBD176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6629" y="4390414"/>
              <a:ext cx="1742384" cy="0"/>
            </a:xfrm>
            <a:prstGeom prst="line">
              <a:avLst/>
            </a:prstGeom>
            <a:ln>
              <a:solidFill>
                <a:schemeClr val="tx1">
                  <a:alpha val="3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C493AF8B-902D-F1CC-AA88-7EFA68BE70A8}"/>
                </a:ext>
              </a:extLst>
            </p:cNvPr>
            <p:cNvSpPr txBox="1"/>
            <p:nvPr/>
          </p:nvSpPr>
          <p:spPr>
            <a:xfrm>
              <a:off x="833684" y="3158661"/>
              <a:ext cx="971405" cy="5748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00" dirty="0"/>
                <a:t>Mid-level MLIR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04A31928-5E0A-1E88-FC60-C05D37356F43}"/>
                </a:ext>
              </a:extLst>
            </p:cNvPr>
            <p:cNvSpPr txBox="1"/>
            <p:nvPr/>
          </p:nvSpPr>
          <p:spPr>
            <a:xfrm>
              <a:off x="800197" y="3805922"/>
              <a:ext cx="908481" cy="5748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00" dirty="0"/>
                <a:t>Low-level MLIR</a:t>
              </a:r>
            </a:p>
          </p:txBody>
        </p: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2BA05256-6F67-8B99-163C-DCA0EF436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592" y="4385711"/>
              <a:ext cx="2101249" cy="17039"/>
            </a:xfrm>
            <a:prstGeom prst="line">
              <a:avLst/>
            </a:prstGeom>
            <a:ln>
              <a:solidFill>
                <a:schemeClr val="tx1">
                  <a:alpha val="3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Arrow: Curved Left 295">
              <a:extLst>
                <a:ext uri="{FF2B5EF4-FFF2-40B4-BE49-F238E27FC236}">
                  <a16:creationId xmlns:a16="http://schemas.microsoft.com/office/drawing/2014/main" id="{C4BB1396-A663-9DFF-B007-FD11BC9B8FBD}"/>
                </a:ext>
              </a:extLst>
            </p:cNvPr>
            <p:cNvSpPr/>
            <p:nvPr/>
          </p:nvSpPr>
          <p:spPr>
            <a:xfrm>
              <a:off x="2737797" y="5047466"/>
              <a:ext cx="218832" cy="276218"/>
            </a:xfrm>
            <a:prstGeom prst="curved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>
                <a:solidFill>
                  <a:schemeClr val="tx1"/>
                </a:solidFill>
              </a:endParaRPr>
            </a:p>
          </p:txBody>
        </p:sp>
        <p:sp>
          <p:nvSpPr>
            <p:cNvPr id="297" name="Arrow: Curved Left 296">
              <a:extLst>
                <a:ext uri="{FF2B5EF4-FFF2-40B4-BE49-F238E27FC236}">
                  <a16:creationId xmlns:a16="http://schemas.microsoft.com/office/drawing/2014/main" id="{205B813D-AB28-2DF3-ACE4-A758D21240BE}"/>
                </a:ext>
              </a:extLst>
            </p:cNvPr>
            <p:cNvSpPr/>
            <p:nvPr/>
          </p:nvSpPr>
          <p:spPr>
            <a:xfrm rot="11287891">
              <a:off x="2458031" y="5032212"/>
              <a:ext cx="218832" cy="276218"/>
            </a:xfrm>
            <a:prstGeom prst="curved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>
                <a:solidFill>
                  <a:schemeClr val="tx1"/>
                </a:solidFill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4F0725BE-A138-4096-6F27-B1A111F50183}"/>
                </a:ext>
              </a:extLst>
            </p:cNvPr>
            <p:cNvSpPr txBox="1"/>
            <p:nvPr/>
          </p:nvSpPr>
          <p:spPr>
            <a:xfrm>
              <a:off x="908212" y="4884421"/>
              <a:ext cx="971405" cy="5748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00" dirty="0"/>
                <a:t>CIRCT Dialects</a:t>
              </a:r>
            </a:p>
          </p:txBody>
        </p:sp>
        <p:sp>
          <p:nvSpPr>
            <p:cNvPr id="299" name="Rectangle: Rounded Corners 298">
              <a:extLst>
                <a:ext uri="{FF2B5EF4-FFF2-40B4-BE49-F238E27FC236}">
                  <a16:creationId xmlns:a16="http://schemas.microsoft.com/office/drawing/2014/main" id="{3EFF4255-8F12-9480-98AA-24E7F17949B0}"/>
                </a:ext>
              </a:extLst>
            </p:cNvPr>
            <p:cNvSpPr/>
            <p:nvPr/>
          </p:nvSpPr>
          <p:spPr>
            <a:xfrm>
              <a:off x="5733335" y="143953"/>
              <a:ext cx="1630851" cy="60266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pic>
          <p:nvPicPr>
            <p:cNvPr id="300" name="Picture 299" descr="A red and black logo&#10;&#10;AI-generated content may be incorrect.">
              <a:extLst>
                <a:ext uri="{FF2B5EF4-FFF2-40B4-BE49-F238E27FC236}">
                  <a16:creationId xmlns:a16="http://schemas.microsoft.com/office/drawing/2014/main" id="{80F4CE87-CE00-9718-8903-6FB37A927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0697" y="258835"/>
              <a:ext cx="314725" cy="347846"/>
            </a:xfrm>
            <a:prstGeom prst="rect">
              <a:avLst/>
            </a:prstGeom>
          </p:spPr>
        </p:pic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D207220A-B95D-21DD-A7AF-4E36BCB20906}"/>
                </a:ext>
              </a:extLst>
            </p:cNvPr>
            <p:cNvSpPr txBox="1"/>
            <p:nvPr/>
          </p:nvSpPr>
          <p:spPr>
            <a:xfrm>
              <a:off x="6145175" y="159499"/>
              <a:ext cx="1125384" cy="574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dirty="0"/>
                <a:t>Reference Model/Algo.</a:t>
              </a:r>
            </a:p>
          </p:txBody>
        </p: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1FAABF2F-7306-332B-9DD2-8407B7B24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198" y="2184879"/>
              <a:ext cx="3788555" cy="0"/>
            </a:xfrm>
            <a:prstGeom prst="line">
              <a:avLst/>
            </a:prstGeom>
            <a:ln>
              <a:solidFill>
                <a:schemeClr val="tx1">
                  <a:alpha val="3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80683834-1DE4-C942-5166-F825E378E3B0}"/>
                </a:ext>
              </a:extLst>
            </p:cNvPr>
            <p:cNvSpPr txBox="1"/>
            <p:nvPr/>
          </p:nvSpPr>
          <p:spPr>
            <a:xfrm>
              <a:off x="789790" y="1492061"/>
              <a:ext cx="971405" cy="395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00" dirty="0" err="1"/>
                <a:t>Allo</a:t>
              </a:r>
              <a:endParaRPr lang="en-US" sz="500" dirty="0"/>
            </a:p>
          </p:txBody>
        </p: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5F3375E1-8D9E-2069-D767-B67DE8D57741}"/>
                </a:ext>
              </a:extLst>
            </p:cNvPr>
            <p:cNvGrpSpPr/>
            <p:nvPr/>
          </p:nvGrpSpPr>
          <p:grpSpPr>
            <a:xfrm>
              <a:off x="2061556" y="1043761"/>
              <a:ext cx="1246152" cy="462390"/>
              <a:chOff x="2208627" y="3105443"/>
              <a:chExt cx="1603717" cy="726131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312" name="Rectangle: Rounded Corners 311">
                <a:extLst>
                  <a:ext uri="{FF2B5EF4-FFF2-40B4-BE49-F238E27FC236}">
                    <a16:creationId xmlns:a16="http://schemas.microsoft.com/office/drawing/2014/main" id="{E31A9CC6-9A3E-4260-0F46-49F9A0CBC432}"/>
                  </a:ext>
                </a:extLst>
              </p:cNvPr>
              <p:cNvSpPr/>
              <p:nvPr/>
            </p:nvSpPr>
            <p:spPr>
              <a:xfrm>
                <a:off x="2208627" y="3105443"/>
                <a:ext cx="1603717" cy="64711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D9802C61-DD1B-365D-AA8E-77CAB4E4CEAE}"/>
                  </a:ext>
                </a:extLst>
              </p:cNvPr>
              <p:cNvSpPr txBox="1"/>
              <p:nvPr/>
            </p:nvSpPr>
            <p:spPr>
              <a:xfrm>
                <a:off x="2475608" y="3154535"/>
                <a:ext cx="1336733" cy="677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 err="1"/>
                  <a:t>torch.fx</a:t>
                </a:r>
                <a:endParaRPr lang="en-US" sz="600" dirty="0"/>
              </a:p>
            </p:txBody>
          </p: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7E92A949-7D37-7760-7836-81E65F2D8D19}"/>
                </a:ext>
              </a:extLst>
            </p:cNvPr>
            <p:cNvGrpSpPr/>
            <p:nvPr/>
          </p:nvGrpSpPr>
          <p:grpSpPr>
            <a:xfrm>
              <a:off x="2085105" y="1728651"/>
              <a:ext cx="1246152" cy="462390"/>
              <a:chOff x="2208627" y="3105443"/>
              <a:chExt cx="1603717" cy="726131"/>
            </a:xfrm>
            <a:solidFill>
              <a:schemeClr val="bg1">
                <a:lumMod val="75000"/>
              </a:schemeClr>
            </a:solidFill>
          </p:grpSpPr>
          <p:sp>
            <p:nvSpPr>
              <p:cNvPr id="310" name="Rectangle: Rounded Corners 309">
                <a:extLst>
                  <a:ext uri="{FF2B5EF4-FFF2-40B4-BE49-F238E27FC236}">
                    <a16:creationId xmlns:a16="http://schemas.microsoft.com/office/drawing/2014/main" id="{85B71BC1-CE40-885B-69BF-561748CD007B}"/>
                  </a:ext>
                </a:extLst>
              </p:cNvPr>
              <p:cNvSpPr/>
              <p:nvPr/>
            </p:nvSpPr>
            <p:spPr>
              <a:xfrm>
                <a:off x="2208627" y="3105443"/>
                <a:ext cx="1603717" cy="64711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2A184D49-58E8-D9BE-28C5-1FE9EE16F54F}"/>
                  </a:ext>
                </a:extLst>
              </p:cNvPr>
              <p:cNvSpPr txBox="1"/>
              <p:nvPr/>
            </p:nvSpPr>
            <p:spPr>
              <a:xfrm>
                <a:off x="2243333" y="3154535"/>
                <a:ext cx="1569011" cy="677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 </a:t>
                </a:r>
                <a:r>
                  <a:rPr lang="en-US" sz="600" dirty="0" err="1"/>
                  <a:t>Allo</a:t>
                </a:r>
                <a:r>
                  <a:rPr lang="en-US" sz="600" dirty="0"/>
                  <a:t>-MLIR</a:t>
                </a:r>
              </a:p>
            </p:txBody>
          </p:sp>
        </p:grp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2F6FA9EE-9AEB-95C7-5704-6060DE9E4812}"/>
                </a:ext>
              </a:extLst>
            </p:cNvPr>
            <p:cNvCxnSpPr>
              <a:cxnSpLocks/>
            </p:cNvCxnSpPr>
            <p:nvPr/>
          </p:nvCxnSpPr>
          <p:spPr>
            <a:xfrm>
              <a:off x="2708181" y="1483676"/>
              <a:ext cx="0" cy="2196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62BD72C8-E2F3-B15F-342C-2E9ABEB0ED38}"/>
                </a:ext>
              </a:extLst>
            </p:cNvPr>
            <p:cNvCxnSpPr>
              <a:cxnSpLocks/>
            </p:cNvCxnSpPr>
            <p:nvPr/>
          </p:nvCxnSpPr>
          <p:spPr>
            <a:xfrm>
              <a:off x="2715733" y="2179286"/>
              <a:ext cx="0" cy="2196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C3CC9161-7C5D-E323-1F2E-34591555E2F8}"/>
                </a:ext>
              </a:extLst>
            </p:cNvPr>
            <p:cNvCxnSpPr>
              <a:cxnSpLocks/>
            </p:cNvCxnSpPr>
            <p:nvPr/>
          </p:nvCxnSpPr>
          <p:spPr>
            <a:xfrm>
              <a:off x="2706675" y="2903548"/>
              <a:ext cx="0" cy="2196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Arrow Connector 308">
              <a:extLst>
                <a:ext uri="{FF2B5EF4-FFF2-40B4-BE49-F238E27FC236}">
                  <a16:creationId xmlns:a16="http://schemas.microsoft.com/office/drawing/2014/main" id="{EF1262AD-C114-7D2C-CFE9-8FD37D8FE839}"/>
                </a:ext>
              </a:extLst>
            </p:cNvPr>
            <p:cNvCxnSpPr>
              <a:cxnSpLocks/>
            </p:cNvCxnSpPr>
            <p:nvPr/>
          </p:nvCxnSpPr>
          <p:spPr>
            <a:xfrm>
              <a:off x="2715731" y="785046"/>
              <a:ext cx="0" cy="2196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Shape 93">
            <a:extLst>
              <a:ext uri="{FF2B5EF4-FFF2-40B4-BE49-F238E27FC236}">
                <a16:creationId xmlns:a16="http://schemas.microsoft.com/office/drawing/2014/main" id="{87C6AE1E-150C-5362-7FF0-08B5C5264F0A}"/>
              </a:ext>
            </a:extLst>
          </p:cNvPr>
          <p:cNvSpPr/>
          <p:nvPr/>
        </p:nvSpPr>
        <p:spPr>
          <a:xfrm>
            <a:off x="-9144" y="6803136"/>
            <a:ext cx="12201144" cy="45719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Text 97">
            <a:extLst>
              <a:ext uri="{FF2B5EF4-FFF2-40B4-BE49-F238E27FC236}">
                <a16:creationId xmlns:a16="http://schemas.microsoft.com/office/drawing/2014/main" id="{B63B7F26-4DDA-2072-D85F-7F65606CC93D}"/>
              </a:ext>
            </a:extLst>
          </p:cNvPr>
          <p:cNvSpPr/>
          <p:nvPr/>
        </p:nvSpPr>
        <p:spPr>
          <a:xfrm>
            <a:off x="8485632" y="5511212"/>
            <a:ext cx="3547872" cy="11090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Semantic-preserving compilation: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high-level dataflow across all lowering stages</a:t>
            </a:r>
            <a:endParaRPr lang="en-US" sz="880" dirty="0"/>
          </a:p>
          <a:p>
            <a:r>
              <a:rPr lang="en-US" sz="88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Resource-aware DSE framework: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tiling, unrolling, pipelining, memory banking, and precision under FPGA constraints.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8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Push-Button HLS</a:t>
            </a: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srgbClr val="00308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synthesizable hardware from high-level AI workload specifications.</a:t>
            </a:r>
            <a:endParaRPr lang="en-US" sz="880" dirty="0"/>
          </a:p>
          <a:p>
            <a:pPr marL="0" indent="0">
              <a:buNone/>
            </a:pPr>
            <a:r>
              <a:rPr lang="en-US" sz="88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assistants: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LLMs for front-end assistance, pragma suggestions, debugging, and design-space hints</a:t>
            </a:r>
            <a:endParaRPr lang="en-US" sz="88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85458C-A524-0D5D-068F-A3C8D0B3242F}"/>
              </a:ext>
            </a:extLst>
          </p:cNvPr>
          <p:cNvGrpSpPr/>
          <p:nvPr/>
        </p:nvGrpSpPr>
        <p:grpSpPr>
          <a:xfrm>
            <a:off x="118872" y="1259253"/>
            <a:ext cx="3767328" cy="1915204"/>
            <a:chOff x="118872" y="1259253"/>
            <a:chExt cx="3767328" cy="191520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E5D3B76-D211-079B-1E6F-75D326FA48D9}"/>
                </a:ext>
              </a:extLst>
            </p:cNvPr>
            <p:cNvGrpSpPr/>
            <p:nvPr/>
          </p:nvGrpSpPr>
          <p:grpSpPr>
            <a:xfrm>
              <a:off x="118872" y="1259253"/>
              <a:ext cx="3730752" cy="1915204"/>
              <a:chOff x="118872" y="1259253"/>
              <a:chExt cx="3730752" cy="1444752"/>
            </a:xfrm>
          </p:grpSpPr>
          <p:sp>
            <p:nvSpPr>
              <p:cNvPr id="11" name="Shape 9">
                <a:extLst>
                  <a:ext uri="{FF2B5EF4-FFF2-40B4-BE49-F238E27FC236}">
                    <a16:creationId xmlns:a16="http://schemas.microsoft.com/office/drawing/2014/main" id="{C793203A-2039-8A11-7DA3-6AC128C66534}"/>
                  </a:ext>
                </a:extLst>
              </p:cNvPr>
              <p:cNvSpPr/>
              <p:nvPr/>
            </p:nvSpPr>
            <p:spPr>
              <a:xfrm>
                <a:off x="118872" y="1259253"/>
                <a:ext cx="3730752" cy="144475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1D5DB"/>
                </a:solidFill>
                <a:prstDash val="solid"/>
              </a:ln>
              <a:effectLst>
                <a:outerShdw blurRad="635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" name="Shape 10">
                <a:extLst>
                  <a:ext uri="{FF2B5EF4-FFF2-40B4-BE49-F238E27FC236}">
                    <a16:creationId xmlns:a16="http://schemas.microsoft.com/office/drawing/2014/main" id="{FD71C740-69BA-3712-E5F3-BCBD5E93F82E}"/>
                  </a:ext>
                </a:extLst>
              </p:cNvPr>
              <p:cNvSpPr/>
              <p:nvPr/>
            </p:nvSpPr>
            <p:spPr>
              <a:xfrm>
                <a:off x="118872" y="1259253"/>
                <a:ext cx="73152" cy="1444752"/>
              </a:xfrm>
              <a:prstGeom prst="rect">
                <a:avLst/>
              </a:prstGeom>
              <a:solidFill>
                <a:srgbClr val="003087"/>
              </a:solidFill>
              <a:ln w="12700">
                <a:solidFill>
                  <a:srgbClr val="0030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060AA6BB-78CC-4968-E8A2-A1BD702176FA}"/>
                </a:ext>
              </a:extLst>
            </p:cNvPr>
            <p:cNvSpPr/>
            <p:nvPr/>
          </p:nvSpPr>
          <p:spPr>
            <a:xfrm>
              <a:off x="256032" y="1304973"/>
              <a:ext cx="354787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50" b="1" dirty="0">
                  <a:solidFill>
                    <a:srgbClr val="0030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Research Problem &amp; Motivation</a:t>
              </a:r>
              <a:endParaRPr lang="en-US" sz="1250" dirty="0">
                <a:solidFill>
                  <a:srgbClr val="003087"/>
                </a:solidFill>
              </a:endParaRPr>
            </a:p>
          </p:txBody>
        </p:sp>
        <p:sp>
          <p:nvSpPr>
            <p:cNvPr id="5" name="Text 19">
              <a:extLst>
                <a:ext uri="{FF2B5EF4-FFF2-40B4-BE49-F238E27FC236}">
                  <a16:creationId xmlns:a16="http://schemas.microsoft.com/office/drawing/2014/main" id="{9D051EEB-9ACE-C75A-FB56-5AB3C9EE530B}"/>
                </a:ext>
              </a:extLst>
            </p:cNvPr>
            <p:cNvSpPr/>
            <p:nvPr/>
          </p:nvSpPr>
          <p:spPr>
            <a:xfrm>
              <a:off x="214884" y="1551573"/>
              <a:ext cx="3671316" cy="150198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000" dirty="0"/>
                <a:t>Demand for workload-aware accelerators is skyrocketing, but hand-crafting RTL requires extreme microarchitectural expertise</a:t>
              </a: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000" dirty="0"/>
                <a:t>LLMs can generate RTL from high-level descriptions, but their probabilistic token prediction lacks explicit execution models, leading to conservative, unoptimized pipelines.</a:t>
              </a: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000" dirty="0"/>
                <a:t>Conventional compilers strip high-level loop and dataflow structures during sequential lowering, weakening spatial mapping capabilities.</a:t>
              </a:r>
              <a:endParaRPr lang="en-US" sz="920" dirty="0"/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67DAC868-E8BF-D7E1-DE89-9786A3042879}"/>
              </a:ext>
            </a:extLst>
          </p:cNvPr>
          <p:cNvGrpSpPr/>
          <p:nvPr/>
        </p:nvGrpSpPr>
        <p:grpSpPr>
          <a:xfrm>
            <a:off x="108204" y="3268095"/>
            <a:ext cx="3767328" cy="1203321"/>
            <a:chOff x="118872" y="1259253"/>
            <a:chExt cx="3767328" cy="1915204"/>
          </a:xfrm>
        </p:grpSpPr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89803D4C-E4F4-7723-2B3C-F395BD8C5E0B}"/>
                </a:ext>
              </a:extLst>
            </p:cNvPr>
            <p:cNvGrpSpPr/>
            <p:nvPr/>
          </p:nvGrpSpPr>
          <p:grpSpPr>
            <a:xfrm>
              <a:off x="118872" y="1259253"/>
              <a:ext cx="3730752" cy="1915204"/>
              <a:chOff x="118872" y="1259253"/>
              <a:chExt cx="3730752" cy="1444752"/>
            </a:xfrm>
          </p:grpSpPr>
          <p:sp>
            <p:nvSpPr>
              <p:cNvPr id="228" name="Shape 9">
                <a:extLst>
                  <a:ext uri="{FF2B5EF4-FFF2-40B4-BE49-F238E27FC236}">
                    <a16:creationId xmlns:a16="http://schemas.microsoft.com/office/drawing/2014/main" id="{B611C24F-7E63-560B-B2E1-FC1922DCB08B}"/>
                  </a:ext>
                </a:extLst>
              </p:cNvPr>
              <p:cNvSpPr/>
              <p:nvPr/>
            </p:nvSpPr>
            <p:spPr>
              <a:xfrm>
                <a:off x="118872" y="1259253"/>
                <a:ext cx="3730752" cy="144475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1D5DB"/>
                </a:solidFill>
                <a:prstDash val="solid"/>
              </a:ln>
              <a:effectLst>
                <a:outerShdw blurRad="635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9" name="Shape 10">
                <a:extLst>
                  <a:ext uri="{FF2B5EF4-FFF2-40B4-BE49-F238E27FC236}">
                    <a16:creationId xmlns:a16="http://schemas.microsoft.com/office/drawing/2014/main" id="{838C8610-93A6-1A68-CCAF-E75BD9020C39}"/>
                  </a:ext>
                </a:extLst>
              </p:cNvPr>
              <p:cNvSpPr/>
              <p:nvPr/>
            </p:nvSpPr>
            <p:spPr>
              <a:xfrm>
                <a:off x="118872" y="1259253"/>
                <a:ext cx="73152" cy="1444752"/>
              </a:xfrm>
              <a:prstGeom prst="rect">
                <a:avLst/>
              </a:prstGeom>
              <a:solidFill>
                <a:srgbClr val="BF0000"/>
              </a:solidFill>
              <a:ln w="12700">
                <a:solidFill>
                  <a:srgbClr val="BF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6" name="Text 11">
              <a:extLst>
                <a:ext uri="{FF2B5EF4-FFF2-40B4-BE49-F238E27FC236}">
                  <a16:creationId xmlns:a16="http://schemas.microsoft.com/office/drawing/2014/main" id="{3B26576C-9FD4-4B04-9CAF-A5F6C84A9CC8}"/>
                </a:ext>
              </a:extLst>
            </p:cNvPr>
            <p:cNvSpPr/>
            <p:nvPr/>
          </p:nvSpPr>
          <p:spPr>
            <a:xfrm>
              <a:off x="256032" y="1304973"/>
              <a:ext cx="3547872" cy="37153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50" b="1" dirty="0">
                  <a:solidFill>
                    <a:srgbClr val="B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Central Research Question:</a:t>
              </a:r>
            </a:p>
          </p:txBody>
        </p:sp>
        <p:sp>
          <p:nvSpPr>
            <p:cNvPr id="227" name="Text 19">
              <a:extLst>
                <a:ext uri="{FF2B5EF4-FFF2-40B4-BE49-F238E27FC236}">
                  <a16:creationId xmlns:a16="http://schemas.microsoft.com/office/drawing/2014/main" id="{E07F60D6-46CA-0BC0-ACA7-8F574E7F8165}"/>
                </a:ext>
              </a:extLst>
            </p:cNvPr>
            <p:cNvSpPr/>
            <p:nvPr/>
          </p:nvSpPr>
          <p:spPr>
            <a:xfrm>
              <a:off x="214884" y="1724470"/>
              <a:ext cx="3671316" cy="109204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>
                <a:spcAft>
                  <a:spcPts val="300"/>
                </a:spcAft>
                <a:buSzPct val="100000"/>
              </a:pPr>
              <a:r>
                <a:rPr lang="en-US" sz="1000" dirty="0"/>
                <a:t>How can a hardware compiler preserve the high-level </a:t>
              </a:r>
              <a:r>
                <a:rPr lang="en-US" sz="1000" b="1" dirty="0">
                  <a:solidFill>
                    <a:srgbClr val="003087"/>
                  </a:solidFill>
                </a:rPr>
                <a:t>semantic structure </a:t>
              </a:r>
              <a:r>
                <a:rPr lang="en-US" sz="1000" dirty="0"/>
                <a:t>of AI workloads while progressively lowering them into efficient, resource-aware spatial implementations for reconfigurable heterogeneous SoCs?</a:t>
              </a:r>
              <a:endParaRPr lang="en-US" sz="920" dirty="0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37A1F895-006D-1C6C-7B18-C5DC46B7E641}"/>
              </a:ext>
            </a:extLst>
          </p:cNvPr>
          <p:cNvGrpSpPr/>
          <p:nvPr/>
        </p:nvGrpSpPr>
        <p:grpSpPr>
          <a:xfrm>
            <a:off x="91440" y="4542685"/>
            <a:ext cx="3730752" cy="2178664"/>
            <a:chOff x="118872" y="1259253"/>
            <a:chExt cx="3730752" cy="1915204"/>
          </a:xfrm>
        </p:grpSpPr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72B1DD25-1CEE-727E-2C08-5932EC4CCBAE}"/>
                </a:ext>
              </a:extLst>
            </p:cNvPr>
            <p:cNvGrpSpPr/>
            <p:nvPr/>
          </p:nvGrpSpPr>
          <p:grpSpPr>
            <a:xfrm>
              <a:off x="118872" y="1259253"/>
              <a:ext cx="3730752" cy="1915204"/>
              <a:chOff x="118872" y="1259253"/>
              <a:chExt cx="3730752" cy="1444752"/>
            </a:xfrm>
          </p:grpSpPr>
          <p:sp>
            <p:nvSpPr>
              <p:cNvPr id="235" name="Shape 9">
                <a:extLst>
                  <a:ext uri="{FF2B5EF4-FFF2-40B4-BE49-F238E27FC236}">
                    <a16:creationId xmlns:a16="http://schemas.microsoft.com/office/drawing/2014/main" id="{519BC69D-8DC1-4F66-E911-66BA673CF64A}"/>
                  </a:ext>
                </a:extLst>
              </p:cNvPr>
              <p:cNvSpPr/>
              <p:nvPr/>
            </p:nvSpPr>
            <p:spPr>
              <a:xfrm>
                <a:off x="118872" y="1259253"/>
                <a:ext cx="3730752" cy="144475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1D5DB"/>
                </a:solidFill>
                <a:prstDash val="solid"/>
              </a:ln>
              <a:effectLst>
                <a:outerShdw blurRad="635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6" name="Shape 10">
                <a:extLst>
                  <a:ext uri="{FF2B5EF4-FFF2-40B4-BE49-F238E27FC236}">
                    <a16:creationId xmlns:a16="http://schemas.microsoft.com/office/drawing/2014/main" id="{43C4686E-59F7-217B-825F-B5575389DE60}"/>
                  </a:ext>
                </a:extLst>
              </p:cNvPr>
              <p:cNvSpPr/>
              <p:nvPr/>
            </p:nvSpPr>
            <p:spPr>
              <a:xfrm>
                <a:off x="118872" y="1259253"/>
                <a:ext cx="73152" cy="1444752"/>
              </a:xfrm>
              <a:prstGeom prst="rect">
                <a:avLst/>
              </a:prstGeom>
              <a:solidFill>
                <a:srgbClr val="003087"/>
              </a:solidFill>
              <a:ln w="12700">
                <a:solidFill>
                  <a:srgbClr val="0030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3" name="Text 11">
              <a:extLst>
                <a:ext uri="{FF2B5EF4-FFF2-40B4-BE49-F238E27FC236}">
                  <a16:creationId xmlns:a16="http://schemas.microsoft.com/office/drawing/2014/main" id="{1B04EEC6-B147-E9ED-C0EB-E88319365B98}"/>
                </a:ext>
              </a:extLst>
            </p:cNvPr>
            <p:cNvSpPr/>
            <p:nvPr/>
          </p:nvSpPr>
          <p:spPr>
            <a:xfrm>
              <a:off x="256032" y="1304973"/>
              <a:ext cx="354787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50" b="1" dirty="0">
                  <a:solidFill>
                    <a:srgbClr val="0030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Challenges in Push-Button Design</a:t>
              </a:r>
              <a:endParaRPr lang="en-US" sz="1250" dirty="0">
                <a:solidFill>
                  <a:srgbClr val="003087"/>
                </a:solidFill>
              </a:endParaRPr>
            </a:p>
          </p:txBody>
        </p:sp>
      </p:grpSp>
      <p:sp>
        <p:nvSpPr>
          <p:cNvPr id="240" name="Shape 75">
            <a:extLst>
              <a:ext uri="{FF2B5EF4-FFF2-40B4-BE49-F238E27FC236}">
                <a16:creationId xmlns:a16="http://schemas.microsoft.com/office/drawing/2014/main" id="{C8A1DEAC-E605-475F-A6D4-45BB9088A971}"/>
              </a:ext>
            </a:extLst>
          </p:cNvPr>
          <p:cNvSpPr/>
          <p:nvPr/>
        </p:nvSpPr>
        <p:spPr>
          <a:xfrm>
            <a:off x="279926" y="5021890"/>
            <a:ext cx="3405106" cy="519970"/>
          </a:xfrm>
          <a:prstGeom prst="rect">
            <a:avLst/>
          </a:prstGeom>
          <a:solidFill>
            <a:srgbClr val="EFF6FF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r>
              <a:rPr lang="en-US" sz="1000" dirty="0"/>
              <a:t>Resource utilization, clock frequencies, and critical timing paths are only accurately known after full downstream vendor synthesis.</a:t>
            </a:r>
          </a:p>
        </p:txBody>
      </p:sp>
      <p:sp>
        <p:nvSpPr>
          <p:cNvPr id="241" name="Shape 75">
            <a:extLst>
              <a:ext uri="{FF2B5EF4-FFF2-40B4-BE49-F238E27FC236}">
                <a16:creationId xmlns:a16="http://schemas.microsoft.com/office/drawing/2014/main" id="{126C593C-5889-1DAB-DA20-57799F50AF02}"/>
              </a:ext>
            </a:extLst>
          </p:cNvPr>
          <p:cNvSpPr/>
          <p:nvPr/>
        </p:nvSpPr>
        <p:spPr>
          <a:xfrm>
            <a:off x="255586" y="5826340"/>
            <a:ext cx="3429446" cy="519970"/>
          </a:xfrm>
          <a:prstGeom prst="rect">
            <a:avLst/>
          </a:prstGeom>
          <a:solidFill>
            <a:srgbClr val="EFF6FF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r>
              <a:rPr lang="en-US" sz="1000" dirty="0"/>
              <a:t>Compiler must decide tiling, pipelining, unrolling, memory partitioning, and dataflow mapping without manual expert tuning.</a:t>
            </a:r>
          </a:p>
        </p:txBody>
      </p:sp>
      <p:sp>
        <p:nvSpPr>
          <p:cNvPr id="4" name="Text 68">
            <a:extLst>
              <a:ext uri="{FF2B5EF4-FFF2-40B4-BE49-F238E27FC236}">
                <a16:creationId xmlns:a16="http://schemas.microsoft.com/office/drawing/2014/main" id="{77E95567-2CF1-C531-FBAC-3045AB2F0990}"/>
              </a:ext>
            </a:extLst>
          </p:cNvPr>
          <p:cNvSpPr/>
          <p:nvPr/>
        </p:nvSpPr>
        <p:spPr>
          <a:xfrm>
            <a:off x="10103502" y="1419940"/>
            <a:ext cx="1668104" cy="323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– Fmax (MHz)</a:t>
            </a:r>
            <a:endParaRPr lang="en-US" sz="1250" dirty="0"/>
          </a:p>
        </p:txBody>
      </p:sp>
      <p:graphicFrame>
        <p:nvGraphicFramePr>
          <p:cNvPr id="14" name="Chart 0">
            <a:extLst>
              <a:ext uri="{FF2B5EF4-FFF2-40B4-BE49-F238E27FC236}">
                <a16:creationId xmlns:a16="http://schemas.microsoft.com/office/drawing/2014/main" id="{A0908667-8E43-A987-2230-DD9C3E383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6273642"/>
              </p:ext>
            </p:extLst>
          </p:nvPr>
        </p:nvGraphicFramePr>
        <p:xfrm>
          <a:off x="10101430" y="1446227"/>
          <a:ext cx="1670176" cy="1369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201C3FF-8036-E2F4-AFDA-5EF5D0E6C3F4}"/>
              </a:ext>
            </a:extLst>
          </p:cNvPr>
          <p:cNvSpPr txBox="1"/>
          <p:nvPr/>
        </p:nvSpPr>
        <p:spPr>
          <a:xfrm>
            <a:off x="4811349" y="6088496"/>
            <a:ext cx="3185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further details:</a:t>
            </a:r>
          </a:p>
        </p:txBody>
      </p:sp>
      <p:pic>
        <p:nvPicPr>
          <p:cNvPr id="15" name="Picture 1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EA8470E-54A6-6595-6829-6BBA46163D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2996" y="5949770"/>
            <a:ext cx="829078" cy="76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4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2128</TotalTime>
  <Words>343</Words>
  <Application>Microsoft Office PowerPoint</Application>
  <PresentationFormat>Widescreen</PresentationFormat>
  <Paragraphs>67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Mahfuzul Haque Gazi</cp:lastModifiedBy>
  <cp:revision>18</cp:revision>
  <dcterms:created xsi:type="dcterms:W3CDTF">2026-05-22T07:23:54Z</dcterms:created>
  <dcterms:modified xsi:type="dcterms:W3CDTF">2026-05-24T02:28:00Z</dcterms:modified>
</cp:coreProperties>
</file>